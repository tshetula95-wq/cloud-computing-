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47" autoAdjust="0"/>
    <p:restoredTop sz="94660"/>
  </p:normalViewPr>
  <p:slideViewPr>
    <p:cSldViewPr snapToGrid="0">
      <p:cViewPr varScale="1">
        <p:scale>
          <a:sx n="73" d="100"/>
          <a:sy n="73" d="100"/>
        </p:scale>
        <p:origin x="44" y="2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27616C5-485B-4BA8-A96E-3BD153B4C1C5}" type="datetimeFigureOut">
              <a:rPr lang="en-US" smtClean="0"/>
              <a:t>16-Apr-26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E0CC3F-B8B7-4B22-93F0-054BB5EF5F1E}" type="slidenum">
              <a:rPr lang="en-US" smtClean="0"/>
              <a:t>‹#›</a:t>
            </a:fld>
            <a:endParaRPr lang="en-US"/>
          </a:p>
        </p:txBody>
      </p:sp>
    </p:spTree>
    <p:extLst>
      <p:ext uri="{BB962C8B-B14F-4D97-AF65-F5344CB8AC3E}">
        <p14:creationId xmlns:p14="http://schemas.microsoft.com/office/powerpoint/2010/main" val="1241525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7616C5-485B-4BA8-A96E-3BD153B4C1C5}" type="datetimeFigureOut">
              <a:rPr lang="en-US" smtClean="0"/>
              <a:t>16-Apr-26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E0CC3F-B8B7-4B22-93F0-054BB5EF5F1E}" type="slidenum">
              <a:rPr lang="en-US" smtClean="0"/>
              <a:t>‹#›</a:t>
            </a:fld>
            <a:endParaRPr lang="en-US"/>
          </a:p>
        </p:txBody>
      </p:sp>
    </p:spTree>
    <p:extLst>
      <p:ext uri="{BB962C8B-B14F-4D97-AF65-F5344CB8AC3E}">
        <p14:creationId xmlns:p14="http://schemas.microsoft.com/office/powerpoint/2010/main" val="484014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27616C5-485B-4BA8-A96E-3BD153B4C1C5}" type="datetimeFigureOut">
              <a:rPr lang="en-US" smtClean="0"/>
              <a:t>16-Apr-26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E0CC3F-B8B7-4B22-93F0-054BB5EF5F1E}" type="slidenum">
              <a:rPr lang="en-US" smtClean="0"/>
              <a:t>‹#›</a:t>
            </a:fld>
            <a:endParaRPr lang="en-US"/>
          </a:p>
        </p:txBody>
      </p:sp>
    </p:spTree>
    <p:extLst>
      <p:ext uri="{BB962C8B-B14F-4D97-AF65-F5344CB8AC3E}">
        <p14:creationId xmlns:p14="http://schemas.microsoft.com/office/powerpoint/2010/main" val="1189407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27616C5-485B-4BA8-A96E-3BD153B4C1C5}" type="datetimeFigureOut">
              <a:rPr lang="en-US" smtClean="0"/>
              <a:t>16-Apr-26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E0CC3F-B8B7-4B22-93F0-054BB5EF5F1E}" type="slidenum">
              <a:rPr lang="en-US" smtClean="0"/>
              <a:t>‹#›</a:t>
            </a:fld>
            <a:endParaRPr lang="en-US"/>
          </a:p>
        </p:txBody>
      </p:sp>
    </p:spTree>
    <p:extLst>
      <p:ext uri="{BB962C8B-B14F-4D97-AF65-F5344CB8AC3E}">
        <p14:creationId xmlns:p14="http://schemas.microsoft.com/office/powerpoint/2010/main" val="2430597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27616C5-485B-4BA8-A96E-3BD153B4C1C5}" type="datetimeFigureOut">
              <a:rPr lang="en-US" smtClean="0"/>
              <a:t>16-Apr-26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3E0CC3F-B8B7-4B22-93F0-054BB5EF5F1E}" type="slidenum">
              <a:rPr lang="en-US" smtClean="0"/>
              <a:t>‹#›</a:t>
            </a:fld>
            <a:endParaRPr lang="en-US"/>
          </a:p>
        </p:txBody>
      </p:sp>
    </p:spTree>
    <p:extLst>
      <p:ext uri="{BB962C8B-B14F-4D97-AF65-F5344CB8AC3E}">
        <p14:creationId xmlns:p14="http://schemas.microsoft.com/office/powerpoint/2010/main" val="2416982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7616C5-485B-4BA8-A96E-3BD153B4C1C5}" type="datetimeFigureOut">
              <a:rPr lang="en-US" smtClean="0"/>
              <a:t>16-Apr-26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3E0CC3F-B8B7-4B22-93F0-054BB5EF5F1E}" type="slidenum">
              <a:rPr lang="en-US" smtClean="0"/>
              <a:t>‹#›</a:t>
            </a:fld>
            <a:endParaRPr lang="en-US"/>
          </a:p>
        </p:txBody>
      </p:sp>
    </p:spTree>
    <p:extLst>
      <p:ext uri="{BB962C8B-B14F-4D97-AF65-F5344CB8AC3E}">
        <p14:creationId xmlns:p14="http://schemas.microsoft.com/office/powerpoint/2010/main" val="3691906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7616C5-485B-4BA8-A96E-3BD153B4C1C5}" type="datetimeFigureOut">
              <a:rPr lang="en-US" smtClean="0"/>
              <a:t>16-Apr-26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3E0CC3F-B8B7-4B22-93F0-054BB5EF5F1E}" type="slidenum">
              <a:rPr lang="en-US" smtClean="0"/>
              <a:t>‹#›</a:t>
            </a:fld>
            <a:endParaRPr lang="en-US"/>
          </a:p>
        </p:txBody>
      </p:sp>
    </p:spTree>
    <p:extLst>
      <p:ext uri="{BB962C8B-B14F-4D97-AF65-F5344CB8AC3E}">
        <p14:creationId xmlns:p14="http://schemas.microsoft.com/office/powerpoint/2010/main" val="2863099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7616C5-485B-4BA8-A96E-3BD153B4C1C5}" type="datetimeFigureOut">
              <a:rPr lang="en-US" smtClean="0"/>
              <a:t>16-Apr-26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E0CC3F-B8B7-4B22-93F0-054BB5EF5F1E}" type="slidenum">
              <a:rPr lang="en-US" smtClean="0"/>
              <a:t>‹#›</a:t>
            </a:fld>
            <a:endParaRPr lang="en-US"/>
          </a:p>
        </p:txBody>
      </p:sp>
    </p:spTree>
    <p:extLst>
      <p:ext uri="{BB962C8B-B14F-4D97-AF65-F5344CB8AC3E}">
        <p14:creationId xmlns:p14="http://schemas.microsoft.com/office/powerpoint/2010/main" val="3418891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7616C5-485B-4BA8-A96E-3BD153B4C1C5}" type="datetimeFigureOut">
              <a:rPr lang="en-US" smtClean="0"/>
              <a:t>16-Apr-26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E0CC3F-B8B7-4B22-93F0-054BB5EF5F1E}" type="slidenum">
              <a:rPr lang="en-US" smtClean="0"/>
              <a:t>‹#›</a:t>
            </a:fld>
            <a:endParaRPr lang="en-US"/>
          </a:p>
        </p:txBody>
      </p:sp>
    </p:spTree>
    <p:extLst>
      <p:ext uri="{BB962C8B-B14F-4D97-AF65-F5344CB8AC3E}">
        <p14:creationId xmlns:p14="http://schemas.microsoft.com/office/powerpoint/2010/main" val="3854355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7616C5-485B-4BA8-A96E-3BD153B4C1C5}" type="datetimeFigureOut">
              <a:rPr lang="en-US" smtClean="0"/>
              <a:t>16-Apr-26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E0CC3F-B8B7-4B22-93F0-054BB5EF5F1E}" type="slidenum">
              <a:rPr lang="en-US" smtClean="0"/>
              <a:t>‹#›</a:t>
            </a:fld>
            <a:endParaRPr lang="en-US"/>
          </a:p>
        </p:txBody>
      </p:sp>
    </p:spTree>
    <p:extLst>
      <p:ext uri="{BB962C8B-B14F-4D97-AF65-F5344CB8AC3E}">
        <p14:creationId xmlns:p14="http://schemas.microsoft.com/office/powerpoint/2010/main" val="911877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7616C5-485B-4BA8-A96E-3BD153B4C1C5}" type="datetimeFigureOut">
              <a:rPr lang="en-US" smtClean="0"/>
              <a:t>16-Apr-26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E0CC3F-B8B7-4B22-93F0-054BB5EF5F1E}" type="slidenum">
              <a:rPr lang="en-US" smtClean="0"/>
              <a:t>‹#›</a:t>
            </a:fld>
            <a:endParaRPr lang="en-US"/>
          </a:p>
        </p:txBody>
      </p:sp>
    </p:spTree>
    <p:extLst>
      <p:ext uri="{BB962C8B-B14F-4D97-AF65-F5344CB8AC3E}">
        <p14:creationId xmlns:p14="http://schemas.microsoft.com/office/powerpoint/2010/main" val="1957578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7616C5-485B-4BA8-A96E-3BD153B4C1C5}" type="datetimeFigureOut">
              <a:rPr lang="en-US" smtClean="0"/>
              <a:t>16-Apr-26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E0CC3F-B8B7-4B22-93F0-054BB5EF5F1E}" type="slidenum">
              <a:rPr lang="en-US" smtClean="0"/>
              <a:t>‹#›</a:t>
            </a:fld>
            <a:endParaRPr lang="en-US"/>
          </a:p>
        </p:txBody>
      </p:sp>
    </p:spTree>
    <p:extLst>
      <p:ext uri="{BB962C8B-B14F-4D97-AF65-F5344CB8AC3E}">
        <p14:creationId xmlns:p14="http://schemas.microsoft.com/office/powerpoint/2010/main" val="2465093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
            <a:ext cx="12192000" cy="5103223"/>
          </a:xfrm>
          <a:prstGeom prst="rect">
            <a:avLst/>
          </a:prstGeom>
        </p:spPr>
      </p:pic>
      <p:sp>
        <p:nvSpPr>
          <p:cNvPr id="3" name="TextBox 2"/>
          <p:cNvSpPr txBox="1"/>
          <p:nvPr/>
        </p:nvSpPr>
        <p:spPr>
          <a:xfrm>
            <a:off x="1001486" y="5416731"/>
            <a:ext cx="6688183" cy="1200329"/>
          </a:xfrm>
          <a:prstGeom prst="rect">
            <a:avLst/>
          </a:prstGeom>
          <a:noFill/>
        </p:spPr>
        <p:txBody>
          <a:bodyPr wrap="square" rtlCol="0">
            <a:spAutoFit/>
          </a:bodyPr>
          <a:lstStyle/>
          <a:p>
            <a:r>
              <a:rPr lang="en-US" sz="3600" dirty="0" smtClean="0">
                <a:latin typeface="Elephant" panose="02020904090505020303" pitchFamily="18" charset="0"/>
              </a:rPr>
              <a:t>Chapter 7 </a:t>
            </a:r>
          </a:p>
          <a:p>
            <a:r>
              <a:rPr lang="en-US" sz="3600" dirty="0" smtClean="0">
                <a:latin typeface="Elephant" panose="02020904090505020303" pitchFamily="18" charset="0"/>
              </a:rPr>
              <a:t>Cloud Computing</a:t>
            </a:r>
            <a:endParaRPr lang="en-US" sz="3600" dirty="0">
              <a:latin typeface="Elephant" panose="02020904090505020303" pitchFamily="18" charset="0"/>
            </a:endParaRPr>
          </a:p>
        </p:txBody>
      </p:sp>
    </p:spTree>
    <p:extLst>
      <p:ext uri="{BB962C8B-B14F-4D97-AF65-F5344CB8AC3E}">
        <p14:creationId xmlns:p14="http://schemas.microsoft.com/office/powerpoint/2010/main" val="1442591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dirty="0" smtClean="0">
                <a:latin typeface="Times New Roman" panose="02020603050405020304" pitchFamily="18" charset="0"/>
                <a:cs typeface="Times New Roman" panose="02020603050405020304" pitchFamily="18" charset="0"/>
              </a:rPr>
              <a:t>IN THIS CHAPTER YOU WILL:</a:t>
            </a:r>
            <a:endParaRPr lang="en-US" sz="4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3200" dirty="0" smtClean="0">
                <a:latin typeface="Times New Roman" panose="02020603050405020304" pitchFamily="18" charset="0"/>
                <a:cs typeface="Times New Roman" panose="02020603050405020304" pitchFamily="18" charset="0"/>
              </a:rPr>
              <a:t>describe key service models and deployment types in cloud computing </a:t>
            </a:r>
          </a:p>
          <a:p>
            <a:r>
              <a:rPr lang="en-US" sz="3200" dirty="0" smtClean="0">
                <a:latin typeface="Times New Roman" panose="02020603050405020304" pitchFamily="18" charset="0"/>
                <a:cs typeface="Times New Roman" panose="02020603050405020304" pitchFamily="18" charset="0"/>
              </a:rPr>
              <a:t>relate cloud service and deployment models to practical use cases</a:t>
            </a:r>
          </a:p>
          <a:p>
            <a:r>
              <a:rPr lang="en-US" sz="3200" dirty="0" smtClean="0">
                <a:latin typeface="Times New Roman" panose="02020603050405020304" pitchFamily="18" charset="0"/>
                <a:cs typeface="Times New Roman" panose="02020603050405020304" pitchFamily="18" charset="0"/>
              </a:rPr>
              <a:t>explain the basics of </a:t>
            </a:r>
            <a:r>
              <a:rPr lang="en-US" sz="3200" dirty="0" err="1" smtClean="0">
                <a:latin typeface="Times New Roman" panose="02020603050405020304" pitchFamily="18" charset="0"/>
                <a:cs typeface="Times New Roman" panose="02020603050405020304" pitchFamily="18" charset="0"/>
              </a:rPr>
              <a:t>GitHub</a:t>
            </a:r>
            <a:r>
              <a:rPr lang="en-US" sz="3200" dirty="0" smtClean="0">
                <a:latin typeface="Times New Roman" panose="02020603050405020304" pitchFamily="18" charset="0"/>
                <a:cs typeface="Times New Roman" panose="02020603050405020304" pitchFamily="18" charset="0"/>
              </a:rPr>
              <a:t> as a collaboration tool and demonstrate the ability to create and explore a </a:t>
            </a:r>
            <a:r>
              <a:rPr lang="en-US" sz="3200" dirty="0" err="1" smtClean="0">
                <a:latin typeface="Times New Roman" panose="02020603050405020304" pitchFamily="18" charset="0"/>
                <a:cs typeface="Times New Roman" panose="02020603050405020304" pitchFamily="18" charset="0"/>
              </a:rPr>
              <a:t>GitHub</a:t>
            </a:r>
            <a:r>
              <a:rPr lang="en-US" sz="3200" dirty="0" smtClean="0">
                <a:latin typeface="Times New Roman" panose="02020603050405020304" pitchFamily="18" charset="0"/>
                <a:cs typeface="Times New Roman" panose="02020603050405020304" pitchFamily="18" charset="0"/>
              </a:rPr>
              <a:t> account for managing and sharing code or projects online.</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0246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Introduction to Cloud Computing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4"/>
            <a:ext cx="11103864" cy="4721479"/>
          </a:xfrm>
        </p:spPr>
        <p:txBody>
          <a:bodyPr/>
          <a:lstStyle/>
          <a:p>
            <a:r>
              <a:rPr lang="en-US" dirty="0">
                <a:latin typeface="Times New Roman" panose="02020603050405020304" pitchFamily="18" charset="0"/>
                <a:cs typeface="Times New Roman" panose="02020603050405020304" pitchFamily="18" charset="0"/>
              </a:rPr>
              <a:t>Cloud computing works through a group of powerful computers (called servers) connected to the internet. These servers store data and run programs for people all over the world. You do not need to install software or buy expensive hardware; you just connect to the cloud and start working</a:t>
            </a:r>
            <a:r>
              <a:rPr lang="en-US" dirty="0" smtClean="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Example</a:t>
            </a:r>
          </a:p>
          <a:p>
            <a:r>
              <a:rPr lang="en-US" dirty="0">
                <a:latin typeface="Times New Roman" panose="02020603050405020304" pitchFamily="18" charset="0"/>
                <a:cs typeface="Times New Roman" panose="02020603050405020304" pitchFamily="18" charset="0"/>
              </a:rPr>
              <a:t>When you upload photos to </a:t>
            </a:r>
            <a:r>
              <a:rPr lang="en-US" b="1" dirty="0">
                <a:latin typeface="Times New Roman" panose="02020603050405020304" pitchFamily="18" charset="0"/>
                <a:cs typeface="Times New Roman" panose="02020603050405020304" pitchFamily="18" charset="0"/>
              </a:rPr>
              <a:t>Google Drive</a:t>
            </a:r>
            <a:r>
              <a:rPr lang="en-US" dirty="0">
                <a:latin typeface="Times New Roman" panose="02020603050405020304" pitchFamily="18" charset="0"/>
                <a:cs typeface="Times New Roman" panose="02020603050405020304" pitchFamily="18" charset="0"/>
              </a:rPr>
              <a:t>, they are stored on remote servers (the cloud), not just your phone. </a:t>
            </a:r>
          </a:p>
          <a:p>
            <a:r>
              <a:rPr lang="en-US" dirty="0">
                <a:latin typeface="Times New Roman" panose="02020603050405020304" pitchFamily="18" charset="0"/>
                <a:cs typeface="Times New Roman" panose="02020603050405020304" pitchFamily="18" charset="0"/>
              </a:rPr>
              <a:t>Watching videos on </a:t>
            </a:r>
            <a:r>
              <a:rPr lang="en-US" b="1" dirty="0">
                <a:latin typeface="Times New Roman" panose="02020603050405020304" pitchFamily="18" charset="0"/>
                <a:cs typeface="Times New Roman" panose="02020603050405020304" pitchFamily="18" charset="0"/>
              </a:rPr>
              <a:t>YouTube</a:t>
            </a:r>
            <a:r>
              <a:rPr lang="en-US" dirty="0">
                <a:latin typeface="Times New Roman" panose="02020603050405020304" pitchFamily="18" charset="0"/>
                <a:cs typeface="Times New Roman" panose="02020603050405020304" pitchFamily="18" charset="0"/>
              </a:rPr>
              <a:t> also uses cloud computing</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8501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TIP</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When you save a photo, document, or video to a service like Google Drive or Microsoft </a:t>
            </a:r>
            <a:r>
              <a:rPr lang="en-US" dirty="0" err="1" smtClean="0">
                <a:latin typeface="Times New Roman" panose="02020603050405020304" pitchFamily="18" charset="0"/>
                <a:cs typeface="Times New Roman" panose="02020603050405020304" pitchFamily="18" charset="0"/>
              </a:rPr>
              <a:t>OneDrive</a:t>
            </a:r>
            <a:r>
              <a:rPr lang="en-US" dirty="0" smtClean="0">
                <a:latin typeface="Times New Roman" panose="02020603050405020304" pitchFamily="18" charset="0"/>
                <a:cs typeface="Times New Roman" panose="02020603050405020304" pitchFamily="18" charset="0"/>
              </a:rPr>
              <a:t>, you are using cloud computing. This technology helps everyone, from schools to businesses to individual users, as it works more quickly, easily, and securely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1135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Cloud Service</a:t>
            </a: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Cloud services include: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Storage </a:t>
            </a:r>
            <a:r>
              <a:rPr lang="en-US" dirty="0">
                <a:latin typeface="Times New Roman" panose="02020603050405020304" pitchFamily="18" charset="0"/>
                <a:cs typeface="Times New Roman" panose="02020603050405020304" pitchFamily="18" charset="0"/>
              </a:rPr>
              <a:t>: saving files online (e.g. Google Drive, </a:t>
            </a:r>
            <a:r>
              <a:rPr lang="en-US" dirty="0" err="1">
                <a:latin typeface="Times New Roman" panose="02020603050405020304" pitchFamily="18" charset="0"/>
                <a:cs typeface="Times New Roman" panose="02020603050405020304" pitchFamily="18" charset="0"/>
              </a:rPr>
              <a:t>OneDrive</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Servers </a:t>
            </a:r>
            <a:r>
              <a:rPr lang="en-US" dirty="0">
                <a:latin typeface="Times New Roman" panose="02020603050405020304" pitchFamily="18" charset="0"/>
                <a:cs typeface="Times New Roman" panose="02020603050405020304" pitchFamily="18" charset="0"/>
              </a:rPr>
              <a:t>and computing power : running applications or websites on cloud servers.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Software </a:t>
            </a:r>
            <a:r>
              <a:rPr lang="en-US" dirty="0">
                <a:latin typeface="Times New Roman" panose="02020603050405020304" pitchFamily="18" charset="0"/>
                <a:cs typeface="Times New Roman" panose="02020603050405020304" pitchFamily="18" charset="0"/>
              </a:rPr>
              <a:t>and apps : using complete applications over the internet (e.g. Google Docs, Office 365).</a:t>
            </a:r>
          </a:p>
        </p:txBody>
      </p:sp>
    </p:spTree>
    <p:extLst>
      <p:ext uri="{BB962C8B-B14F-4D97-AF65-F5344CB8AC3E}">
        <p14:creationId xmlns:p14="http://schemas.microsoft.com/office/powerpoint/2010/main" val="539829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Cloud Service Models </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There are three main types of cloud services, and each works in a different way depending on what you need:</a:t>
            </a:r>
          </a:p>
        </p:txBody>
      </p:sp>
      <p:pic>
        <p:nvPicPr>
          <p:cNvPr id="4" name="Picture 3"/>
          <p:cNvPicPr>
            <a:picLocks noChangeAspect="1"/>
          </p:cNvPicPr>
          <p:nvPr/>
        </p:nvPicPr>
        <p:blipFill>
          <a:blip r:embed="rId2"/>
          <a:stretch>
            <a:fillRect/>
          </a:stretch>
        </p:blipFill>
        <p:spPr>
          <a:xfrm>
            <a:off x="2536126" y="3252788"/>
            <a:ext cx="6315075" cy="2924175"/>
          </a:xfrm>
          <a:prstGeom prst="rect">
            <a:avLst/>
          </a:prstGeom>
        </p:spPr>
      </p:pic>
    </p:spTree>
    <p:extLst>
      <p:ext uri="{BB962C8B-B14F-4D97-AF65-F5344CB8AC3E}">
        <p14:creationId xmlns:p14="http://schemas.microsoft.com/office/powerpoint/2010/main" val="2545359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Infrastructure as a Service (</a:t>
            </a:r>
            <a:r>
              <a:rPr lang="en-US" dirty="0" err="1">
                <a:latin typeface="Times New Roman" panose="02020603050405020304" pitchFamily="18" charset="0"/>
                <a:cs typeface="Times New Roman" panose="02020603050405020304" pitchFamily="18" charset="0"/>
              </a:rPr>
              <a:t>IaaS</a:t>
            </a:r>
            <a:r>
              <a:rPr lang="en-US"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This is the </a:t>
            </a:r>
            <a:r>
              <a:rPr lang="en-US" b="1" dirty="0">
                <a:latin typeface="Times New Roman" panose="02020603050405020304" pitchFamily="18" charset="0"/>
                <a:cs typeface="Times New Roman" panose="02020603050405020304" pitchFamily="18" charset="0"/>
              </a:rPr>
              <a:t>most flexible and advanced model</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Provides virtual machines, storage, and networks </a:t>
            </a:r>
          </a:p>
          <a:p>
            <a:r>
              <a:rPr lang="en-US" dirty="0">
                <a:latin typeface="Times New Roman" panose="02020603050405020304" pitchFamily="18" charset="0"/>
                <a:cs typeface="Times New Roman" panose="02020603050405020304" pitchFamily="18" charset="0"/>
              </a:rPr>
              <a:t>You control operating systems and applications </a:t>
            </a:r>
          </a:p>
          <a:p>
            <a:pPr marL="0" indent="0">
              <a:buNone/>
            </a:pPr>
            <a:r>
              <a:rPr lang="en-US" b="1" dirty="0" smtClean="0">
                <a:latin typeface="Times New Roman" panose="02020603050405020304" pitchFamily="18" charset="0"/>
                <a:cs typeface="Times New Roman" panose="02020603050405020304" pitchFamily="18" charset="0"/>
              </a:rPr>
              <a:t>Examples</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Amazon Web Services </a:t>
            </a:r>
          </a:p>
          <a:p>
            <a:r>
              <a:rPr lang="en-US" dirty="0">
                <a:latin typeface="Times New Roman" panose="02020603050405020304" pitchFamily="18" charset="0"/>
                <a:cs typeface="Times New Roman" panose="02020603050405020304" pitchFamily="18" charset="0"/>
              </a:rPr>
              <a:t>Google Compute Engine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3271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2. Platform as a Service (</a:t>
            </a:r>
            <a:r>
              <a:rPr lang="en-US" b="1" dirty="0" err="1">
                <a:latin typeface="Times New Roman" panose="02020603050405020304" pitchFamily="18" charset="0"/>
                <a:cs typeface="Times New Roman" panose="02020603050405020304" pitchFamily="18" charset="0"/>
              </a:rPr>
              <a:t>PaaS</a:t>
            </a:r>
            <a:r>
              <a:rPr lang="en-US" b="1" dirty="0">
                <a:latin typeface="Times New Roman" panose="02020603050405020304" pitchFamily="18" charset="0"/>
                <a:cs typeface="Times New Roman" panose="02020603050405020304" pitchFamily="18" charset="0"/>
              </a:rPr>
              <a:t>)</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is for </a:t>
            </a:r>
            <a:r>
              <a:rPr lang="en-US" b="1" dirty="0">
                <a:latin typeface="Times New Roman" panose="02020603050405020304" pitchFamily="18" charset="0"/>
                <a:cs typeface="Times New Roman" panose="02020603050405020304" pitchFamily="18" charset="0"/>
              </a:rPr>
              <a:t>developers</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Provides a platform to build, test, and run applications </a:t>
            </a:r>
          </a:p>
          <a:p>
            <a:r>
              <a:rPr lang="en-US" dirty="0">
                <a:latin typeface="Times New Roman" panose="02020603050405020304" pitchFamily="18" charset="0"/>
                <a:cs typeface="Times New Roman" panose="02020603050405020304" pitchFamily="18" charset="0"/>
              </a:rPr>
              <a:t>No need to manage hardware or operating systems </a:t>
            </a:r>
          </a:p>
          <a:p>
            <a:pPr marL="0" indent="0">
              <a:buNone/>
            </a:pPr>
            <a:r>
              <a:rPr lang="en-US" b="1" dirty="0" smtClean="0">
                <a:latin typeface="Times New Roman" panose="02020603050405020304" pitchFamily="18" charset="0"/>
                <a:cs typeface="Times New Roman" panose="02020603050405020304" pitchFamily="18" charset="0"/>
              </a:rPr>
              <a:t>Examples</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Google App Engine </a:t>
            </a:r>
          </a:p>
          <a:p>
            <a:r>
              <a:rPr lang="en-US" dirty="0">
                <a:latin typeface="Times New Roman" panose="02020603050405020304" pitchFamily="18" charset="0"/>
                <a:cs typeface="Times New Roman" panose="02020603050405020304" pitchFamily="18" charset="0"/>
              </a:rPr>
              <a:t>Microsoft Azure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137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3. Software </a:t>
            </a:r>
            <a:r>
              <a:rPr lang="en-US" b="1" dirty="0">
                <a:latin typeface="Times New Roman" panose="02020603050405020304" pitchFamily="18" charset="0"/>
                <a:cs typeface="Times New Roman" panose="02020603050405020304" pitchFamily="18" charset="0"/>
              </a:rPr>
              <a:t>as a Service (</a:t>
            </a:r>
            <a:r>
              <a:rPr lang="en-US" b="1" dirty="0" err="1">
                <a:latin typeface="Times New Roman" panose="02020603050405020304" pitchFamily="18" charset="0"/>
                <a:cs typeface="Times New Roman" panose="02020603050405020304" pitchFamily="18" charset="0"/>
              </a:rPr>
              <a:t>SaaS</a:t>
            </a:r>
            <a:r>
              <a:rPr lang="en-US" b="1" dirty="0">
                <a:latin typeface="Times New Roman" panose="02020603050405020304" pitchFamily="18" charset="0"/>
                <a:cs typeface="Times New Roman" panose="02020603050405020304" pitchFamily="18" charset="0"/>
              </a:rPr>
              <a:t>)</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is the </a:t>
            </a:r>
            <a:r>
              <a:rPr lang="en-US" b="1" dirty="0">
                <a:latin typeface="Times New Roman" panose="02020603050405020304" pitchFamily="18" charset="0"/>
                <a:cs typeface="Times New Roman" panose="02020603050405020304" pitchFamily="18" charset="0"/>
              </a:rPr>
              <a:t>most basic and user-friendly model</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You use software through the internet </a:t>
            </a:r>
          </a:p>
          <a:p>
            <a:r>
              <a:rPr lang="en-US" dirty="0">
                <a:latin typeface="Times New Roman" panose="02020603050405020304" pitchFamily="18" charset="0"/>
                <a:cs typeface="Times New Roman" panose="02020603050405020304" pitchFamily="18" charset="0"/>
              </a:rPr>
              <a:t>No need to install or maintain anything </a:t>
            </a:r>
          </a:p>
          <a:p>
            <a:r>
              <a:rPr lang="en-US" dirty="0">
                <a:latin typeface="Times New Roman" panose="02020603050405020304" pitchFamily="18" charset="0"/>
                <a:cs typeface="Times New Roman" panose="02020603050405020304" pitchFamily="18" charset="0"/>
              </a:rPr>
              <a:t>Everything is managed by the provider </a:t>
            </a:r>
          </a:p>
          <a:p>
            <a:pPr marL="0" indent="0">
              <a:buNone/>
            </a:pPr>
            <a:r>
              <a:rPr lang="en-US" b="1" dirty="0" smtClean="0">
                <a:latin typeface="Times New Roman" panose="02020603050405020304" pitchFamily="18" charset="0"/>
                <a:cs typeface="Times New Roman" panose="02020603050405020304" pitchFamily="18" charset="0"/>
              </a:rPr>
              <a:t>Examples</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Google Docs </a:t>
            </a:r>
          </a:p>
          <a:p>
            <a:r>
              <a:rPr lang="en-US" dirty="0">
                <a:latin typeface="Times New Roman" panose="02020603050405020304" pitchFamily="18" charset="0"/>
                <a:cs typeface="Times New Roman" panose="02020603050405020304" pitchFamily="18" charset="0"/>
              </a:rPr>
              <a:t>Gmail</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1022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Benefits of Cloud Services </a:t>
            </a:r>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1. Access Anywhere </a:t>
            </a:r>
          </a:p>
          <a:p>
            <a:r>
              <a:rPr lang="en-US" dirty="0">
                <a:latin typeface="Times New Roman" panose="02020603050405020304" pitchFamily="18" charset="0"/>
                <a:cs typeface="Times New Roman" panose="02020603050405020304" pitchFamily="18" charset="0"/>
              </a:rPr>
              <a:t>You can use your data and applications from any device with internet.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Example: Access files on Google Drive from phone, laptop, or school computer.</a:t>
            </a:r>
          </a:p>
          <a:p>
            <a:pPr marL="0" indent="0">
              <a:buNone/>
            </a:pPr>
            <a:endParaRPr lang="en-US" dirty="0" smtClean="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Cost Saving </a:t>
            </a:r>
          </a:p>
          <a:p>
            <a:r>
              <a:rPr lang="en-US" dirty="0">
                <a:latin typeface="Times New Roman" panose="02020603050405020304" pitchFamily="18" charset="0"/>
                <a:cs typeface="Times New Roman" panose="02020603050405020304" pitchFamily="18" charset="0"/>
              </a:rPr>
              <a:t>No need to buy expensive hardware </a:t>
            </a:r>
          </a:p>
          <a:p>
            <a:r>
              <a:rPr lang="en-US" dirty="0">
                <a:latin typeface="Times New Roman" panose="02020603050405020304" pitchFamily="18" charset="0"/>
                <a:cs typeface="Times New Roman" panose="02020603050405020304" pitchFamily="18" charset="0"/>
              </a:rPr>
              <a:t>Pay only for what you use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1221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3. Storage Capacity </a:t>
            </a:r>
          </a:p>
          <a:p>
            <a:r>
              <a:rPr lang="en-US" dirty="0">
                <a:latin typeface="Times New Roman" panose="02020603050405020304" pitchFamily="18" charset="0"/>
                <a:cs typeface="Times New Roman" panose="02020603050405020304" pitchFamily="18" charset="0"/>
              </a:rPr>
              <a:t>Cloud provides large storage space.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You can store photos, videos, and documents without worrying about device space.</a:t>
            </a:r>
          </a:p>
          <a:p>
            <a:r>
              <a:rPr lang="en-US" b="1" dirty="0">
                <a:latin typeface="Times New Roman" panose="02020603050405020304" pitchFamily="18" charset="0"/>
                <a:cs typeface="Times New Roman" panose="02020603050405020304" pitchFamily="18" charset="0"/>
              </a:rPr>
              <a:t>Automatic Updates </a:t>
            </a:r>
          </a:p>
          <a:p>
            <a:r>
              <a:rPr lang="en-US" dirty="0">
                <a:latin typeface="Times New Roman" panose="02020603050405020304" pitchFamily="18" charset="0"/>
                <a:cs typeface="Times New Roman" panose="02020603050405020304" pitchFamily="18" charset="0"/>
              </a:rPr>
              <a:t>Software updates happen automatically </a:t>
            </a:r>
          </a:p>
          <a:p>
            <a:r>
              <a:rPr lang="en-US" dirty="0">
                <a:latin typeface="Times New Roman" panose="02020603050405020304" pitchFamily="18" charset="0"/>
                <a:cs typeface="Times New Roman" panose="02020603050405020304" pitchFamily="18" charset="0"/>
              </a:rPr>
              <a:t>No need to install or maintain manually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1030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Easy Sharing &amp; Collaboration </a:t>
            </a:r>
          </a:p>
          <a:p>
            <a:r>
              <a:rPr lang="en-US" dirty="0">
                <a:latin typeface="Times New Roman" panose="02020603050405020304" pitchFamily="18" charset="0"/>
                <a:cs typeface="Times New Roman" panose="02020603050405020304" pitchFamily="18" charset="0"/>
              </a:rPr>
              <a:t>Share files instantly </a:t>
            </a:r>
          </a:p>
          <a:p>
            <a:r>
              <a:rPr lang="en-US" dirty="0">
                <a:latin typeface="Times New Roman" panose="02020603050405020304" pitchFamily="18" charset="0"/>
                <a:cs typeface="Times New Roman" panose="02020603050405020304" pitchFamily="18" charset="0"/>
              </a:rPr>
              <a:t>Multiple users can work together </a:t>
            </a:r>
          </a:p>
          <a:p>
            <a:pPr marL="0" indent="0">
              <a:buNone/>
            </a:pPr>
            <a:r>
              <a:rPr lang="en-US" dirty="0" smtClean="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Working together on Google Docs in real time.</a:t>
            </a:r>
          </a:p>
          <a:p>
            <a:endParaRPr lang="en-US" dirty="0" smtClean="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Backup and Recovery </a:t>
            </a:r>
          </a:p>
          <a:p>
            <a:r>
              <a:rPr lang="en-US" dirty="0">
                <a:latin typeface="Times New Roman" panose="02020603050405020304" pitchFamily="18" charset="0"/>
                <a:cs typeface="Times New Roman" panose="02020603050405020304" pitchFamily="18" charset="0"/>
              </a:rPr>
              <a:t>Data is automatically backed up </a:t>
            </a:r>
          </a:p>
          <a:p>
            <a:r>
              <a:rPr lang="en-US" dirty="0">
                <a:latin typeface="Times New Roman" panose="02020603050405020304" pitchFamily="18" charset="0"/>
                <a:cs typeface="Times New Roman" panose="02020603050405020304" pitchFamily="18" charset="0"/>
              </a:rPr>
              <a:t>Easy to recover if your device is lost or damaged</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9596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Limitations of Cloud Services</a:t>
            </a:r>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1. Internet Dependency</a:t>
            </a:r>
          </a:p>
          <a:p>
            <a:pPr marL="0" indent="0">
              <a:buNone/>
            </a:pPr>
            <a:r>
              <a:rPr lang="en-US" dirty="0" smtClean="0">
                <a:latin typeface="Times New Roman" panose="02020603050405020304" pitchFamily="18" charset="0"/>
                <a:cs typeface="Times New Roman" panose="02020603050405020304" pitchFamily="18" charset="0"/>
              </a:rPr>
              <a:t>Cloud </a:t>
            </a:r>
            <a:r>
              <a:rPr lang="en-US" dirty="0">
                <a:latin typeface="Times New Roman" panose="02020603050405020304" pitchFamily="18" charset="0"/>
                <a:cs typeface="Times New Roman" panose="02020603050405020304" pitchFamily="18" charset="0"/>
              </a:rPr>
              <a:t>computing needs a stable internet connection.</a:t>
            </a:r>
          </a:p>
          <a:p>
            <a:r>
              <a:rPr lang="en-US" dirty="0">
                <a:latin typeface="Times New Roman" panose="02020603050405020304" pitchFamily="18" charset="0"/>
                <a:cs typeface="Times New Roman" panose="02020603050405020304" pitchFamily="18" charset="0"/>
              </a:rPr>
              <a:t>If the internet is slow or unavailable, you cannot access your data or applications.</a:t>
            </a:r>
          </a:p>
          <a:p>
            <a:pPr marL="0" indent="0">
              <a:buNone/>
            </a:pPr>
            <a:r>
              <a:rPr lang="en-US" dirty="0" smtClean="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Security and Privacy Risks</a:t>
            </a:r>
          </a:p>
          <a:p>
            <a:r>
              <a:rPr lang="en-US" dirty="0">
                <a:latin typeface="Times New Roman" panose="02020603050405020304" pitchFamily="18" charset="0"/>
                <a:cs typeface="Times New Roman" panose="02020603050405020304" pitchFamily="18" charset="0"/>
              </a:rPr>
              <a:t>Data is stored online, which can be targeted by hackers. </a:t>
            </a:r>
          </a:p>
          <a:p>
            <a:r>
              <a:rPr lang="en-US" dirty="0">
                <a:latin typeface="Times New Roman" panose="02020603050405020304" pitchFamily="18" charset="0"/>
                <a:cs typeface="Times New Roman" panose="02020603050405020304" pitchFamily="18" charset="0"/>
              </a:rPr>
              <a:t>Sensitive information may be at risk if security is not strong.</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1451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b="1" dirty="0" smtClean="0">
                <a:latin typeface="Times New Roman" panose="02020603050405020304" pitchFamily="18" charset="0"/>
                <a:cs typeface="Times New Roman" panose="02020603050405020304" pitchFamily="18" charset="0"/>
              </a:rPr>
              <a:t>3. Technical Issue</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Cloud services can sometimes go down due to technical issues. </a:t>
            </a:r>
          </a:p>
          <a:p>
            <a:r>
              <a:rPr lang="en-US" dirty="0">
                <a:latin typeface="Times New Roman" panose="02020603050405020304" pitchFamily="18" charset="0"/>
                <a:cs typeface="Times New Roman" panose="02020603050405020304" pitchFamily="18" charset="0"/>
              </a:rPr>
              <a:t>This can stop work temporarily.</a:t>
            </a:r>
          </a:p>
          <a:p>
            <a:pPr marL="0" indent="0">
              <a:buNone/>
            </a:pPr>
            <a:r>
              <a:rPr lang="en-US" b="1" dirty="0" smtClean="0">
                <a:latin typeface="Times New Roman" panose="02020603050405020304" pitchFamily="18" charset="0"/>
                <a:cs typeface="Times New Roman" panose="02020603050405020304" pitchFamily="18" charset="0"/>
              </a:rPr>
              <a:t>4. </a:t>
            </a:r>
            <a:r>
              <a:rPr lang="en-US" b="1" dirty="0">
                <a:latin typeface="Times New Roman" panose="02020603050405020304" pitchFamily="18" charset="0"/>
                <a:cs typeface="Times New Roman" panose="02020603050405020304" pitchFamily="18" charset="0"/>
              </a:rPr>
              <a:t>Data Loss Risk</a:t>
            </a:r>
          </a:p>
          <a:p>
            <a:r>
              <a:rPr lang="en-US" dirty="0">
                <a:latin typeface="Times New Roman" panose="02020603050405020304" pitchFamily="18" charset="0"/>
                <a:cs typeface="Times New Roman" panose="02020603050405020304" pitchFamily="18" charset="0"/>
              </a:rPr>
              <a:t>Although rare, data can be lost due to system failure, </a:t>
            </a:r>
            <a:r>
              <a:rPr lang="en-US" dirty="0" err="1">
                <a:latin typeface="Times New Roman" panose="02020603050405020304" pitchFamily="18" charset="0"/>
                <a:cs typeface="Times New Roman" panose="02020603050405020304" pitchFamily="18" charset="0"/>
              </a:rPr>
              <a:t>cyberattacks</a:t>
            </a:r>
            <a:r>
              <a:rPr lang="en-US" dirty="0">
                <a:latin typeface="Times New Roman" panose="02020603050405020304" pitchFamily="18" charset="0"/>
                <a:cs typeface="Times New Roman" panose="02020603050405020304" pitchFamily="18" charset="0"/>
              </a:rPr>
              <a:t>, or human error.</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7904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1353800" cy="1486604"/>
          </a:xfrm>
        </p:spPr>
        <p:txBody>
          <a:bodyPr/>
          <a:lstStyle/>
          <a:p>
            <a:r>
              <a:rPr lang="en-US" sz="4800" dirty="0">
                <a:latin typeface="Times New Roman" panose="02020603050405020304" pitchFamily="18" charset="0"/>
                <a:cs typeface="Times New Roman" panose="02020603050405020304" pitchFamily="18" charset="0"/>
              </a:rPr>
              <a:t>Cloud Deployment Models</a:t>
            </a:r>
          </a:p>
        </p:txBody>
      </p:sp>
      <p:sp>
        <p:nvSpPr>
          <p:cNvPr id="3" name="Content Placeholder 2"/>
          <p:cNvSpPr>
            <a:spLocks noGrp="1"/>
          </p:cNvSpPr>
          <p:nvPr>
            <p:ph idx="1"/>
          </p:nvPr>
        </p:nvSpPr>
        <p:spPr>
          <a:xfrm>
            <a:off x="0" y="1419498"/>
            <a:ext cx="12131040" cy="5286102"/>
          </a:xfrm>
        </p:spPr>
        <p:txBody>
          <a:bodyPr>
            <a:noAutofit/>
          </a:bodyPr>
          <a:lstStyle/>
          <a:p>
            <a:r>
              <a:rPr lang="en-US" sz="2000" dirty="0">
                <a:latin typeface="Times New Roman" panose="02020603050405020304" pitchFamily="18" charset="0"/>
                <a:cs typeface="Times New Roman" panose="02020603050405020304" pitchFamily="18" charset="0"/>
              </a:rPr>
              <a:t>Cloud deployment models describe where your cloud runs and who controls it. These are four main cloud development models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1. Public Cloud</a:t>
            </a:r>
          </a:p>
          <a:p>
            <a:r>
              <a:rPr lang="en-US" sz="2000" dirty="0">
                <a:latin typeface="Times New Roman" panose="02020603050405020304" pitchFamily="18" charset="0"/>
                <a:cs typeface="Times New Roman" panose="02020603050405020304" pitchFamily="18" charset="0"/>
              </a:rPr>
              <a:t>Owned and managed by third-party providers. </a:t>
            </a:r>
          </a:p>
          <a:p>
            <a:r>
              <a:rPr lang="en-US" sz="2000" dirty="0">
                <a:latin typeface="Times New Roman" panose="02020603050405020304" pitchFamily="18" charset="0"/>
                <a:cs typeface="Times New Roman" panose="02020603050405020304" pitchFamily="18" charset="0"/>
              </a:rPr>
              <a:t>Services are available to anyone over the internet. </a:t>
            </a:r>
          </a:p>
          <a:p>
            <a:r>
              <a:rPr lang="en-US" sz="2000" dirty="0">
                <a:latin typeface="Times New Roman" panose="02020603050405020304" pitchFamily="18" charset="0"/>
                <a:cs typeface="Times New Roman" panose="02020603050405020304" pitchFamily="18" charset="0"/>
              </a:rPr>
              <a:t>Example: using apps like Google Drive or Dropbox </a:t>
            </a:r>
          </a:p>
          <a:p>
            <a:pPr marL="0" indent="0">
              <a:buNone/>
            </a:pPr>
            <a:r>
              <a:rPr lang="en-US" sz="2000" b="1" dirty="0">
                <a:latin typeface="Times New Roman" panose="02020603050405020304" pitchFamily="18" charset="0"/>
                <a:cs typeface="Times New Roman" panose="02020603050405020304" pitchFamily="18" charset="0"/>
              </a:rPr>
              <a:t>Advantages: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Low cost </a:t>
            </a:r>
          </a:p>
          <a:p>
            <a:r>
              <a:rPr lang="en-US" sz="2000" dirty="0">
                <a:latin typeface="Times New Roman" panose="02020603050405020304" pitchFamily="18" charset="0"/>
                <a:cs typeface="Times New Roman" panose="02020603050405020304" pitchFamily="18" charset="0"/>
              </a:rPr>
              <a:t>Easy to use </a:t>
            </a:r>
          </a:p>
          <a:p>
            <a:r>
              <a:rPr lang="en-US" sz="2000" dirty="0">
                <a:latin typeface="Times New Roman" panose="02020603050405020304" pitchFamily="18" charset="0"/>
                <a:cs typeface="Times New Roman" panose="02020603050405020304" pitchFamily="18" charset="0"/>
              </a:rPr>
              <a:t>No maintenance needed </a:t>
            </a:r>
          </a:p>
          <a:p>
            <a:pPr marL="0" indent="0">
              <a:buNone/>
            </a:pPr>
            <a:r>
              <a:rPr lang="en-US" sz="2000" b="1" dirty="0">
                <a:latin typeface="Times New Roman" panose="02020603050405020304" pitchFamily="18" charset="0"/>
                <a:cs typeface="Times New Roman" panose="02020603050405020304" pitchFamily="18" charset="0"/>
              </a:rPr>
              <a:t>Disadvantages: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Less control </a:t>
            </a:r>
          </a:p>
          <a:p>
            <a:r>
              <a:rPr lang="en-US" sz="2000" dirty="0">
                <a:latin typeface="Times New Roman" panose="02020603050405020304" pitchFamily="18" charset="0"/>
                <a:cs typeface="Times New Roman" panose="02020603050405020304" pitchFamily="18" charset="0"/>
              </a:rPr>
              <a:t>Security concerns</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34829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2. Private Cloud</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smtClean="0">
                <a:latin typeface="Times New Roman" panose="02020603050405020304" pitchFamily="18" charset="0"/>
                <a:cs typeface="Times New Roman" panose="02020603050405020304" pitchFamily="18" charset="0"/>
              </a:rPr>
              <a:t>Used </a:t>
            </a:r>
            <a:r>
              <a:rPr lang="en-US" dirty="0">
                <a:latin typeface="Times New Roman" panose="02020603050405020304" pitchFamily="18" charset="0"/>
                <a:cs typeface="Times New Roman" panose="02020603050405020304" pitchFamily="18" charset="0"/>
              </a:rPr>
              <a:t>by a single organization only. </a:t>
            </a:r>
          </a:p>
          <a:p>
            <a:r>
              <a:rPr lang="en-US" dirty="0">
                <a:latin typeface="Times New Roman" panose="02020603050405020304" pitchFamily="18" charset="0"/>
                <a:cs typeface="Times New Roman" panose="02020603050405020304" pitchFamily="18" charset="0"/>
              </a:rPr>
              <a:t>Can be managed internally or by a third party. </a:t>
            </a:r>
          </a:p>
          <a:p>
            <a:pPr marL="0" indent="0">
              <a:buNone/>
            </a:pPr>
            <a:r>
              <a:rPr lang="en-US" b="1" dirty="0">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High security </a:t>
            </a:r>
          </a:p>
          <a:p>
            <a:r>
              <a:rPr lang="en-US" dirty="0">
                <a:latin typeface="Times New Roman" panose="02020603050405020304" pitchFamily="18" charset="0"/>
                <a:cs typeface="Times New Roman" panose="02020603050405020304" pitchFamily="18" charset="0"/>
              </a:rPr>
              <a:t>Full control </a:t>
            </a:r>
          </a:p>
          <a:p>
            <a:pPr marL="0" indent="0">
              <a:buNone/>
            </a:pPr>
            <a:r>
              <a:rPr lang="en-US" b="1" dirty="0">
                <a:latin typeface="Times New Roman" panose="02020603050405020304" pitchFamily="18" charset="0"/>
                <a:cs typeface="Times New Roman" panose="02020603050405020304" pitchFamily="18" charset="0"/>
              </a:rPr>
              <a:t>Disadvantages: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Expensive </a:t>
            </a:r>
          </a:p>
          <a:p>
            <a:r>
              <a:rPr lang="en-US" dirty="0">
                <a:latin typeface="Times New Roman" panose="02020603050405020304" pitchFamily="18" charset="0"/>
                <a:cs typeface="Times New Roman" panose="02020603050405020304" pitchFamily="18" charset="0"/>
              </a:rPr>
              <a:t>Requires maintenance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5969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3. Hybrid Cloud</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Combination </a:t>
            </a:r>
            <a:r>
              <a:rPr lang="en-US" dirty="0">
                <a:latin typeface="Times New Roman" panose="02020603050405020304" pitchFamily="18" charset="0"/>
                <a:cs typeface="Times New Roman" panose="02020603050405020304" pitchFamily="18" charset="0"/>
              </a:rPr>
              <a:t>of public and private cloud. </a:t>
            </a:r>
          </a:p>
          <a:p>
            <a:r>
              <a:rPr lang="en-US" dirty="0">
                <a:latin typeface="Times New Roman" panose="02020603050405020304" pitchFamily="18" charset="0"/>
                <a:cs typeface="Times New Roman" panose="02020603050405020304" pitchFamily="18" charset="0"/>
              </a:rPr>
              <a:t>Allows data and applications to move between both. </a:t>
            </a:r>
          </a:p>
          <a:p>
            <a:pPr marL="0" indent="0">
              <a:buNone/>
            </a:pPr>
            <a:r>
              <a:rPr lang="en-US" b="1" dirty="0">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Flexible </a:t>
            </a:r>
          </a:p>
          <a:p>
            <a:r>
              <a:rPr lang="en-US" dirty="0">
                <a:latin typeface="Times New Roman" panose="02020603050405020304" pitchFamily="18" charset="0"/>
                <a:cs typeface="Times New Roman" panose="02020603050405020304" pitchFamily="18" charset="0"/>
              </a:rPr>
              <a:t>Better security with cost efficiency </a:t>
            </a:r>
          </a:p>
          <a:p>
            <a:pPr marL="0" indent="0">
              <a:buNone/>
            </a:pPr>
            <a:r>
              <a:rPr lang="en-US" b="1" dirty="0">
                <a:latin typeface="Times New Roman" panose="02020603050405020304" pitchFamily="18" charset="0"/>
                <a:cs typeface="Times New Roman" panose="02020603050405020304" pitchFamily="18" charset="0"/>
              </a:rPr>
              <a:t>Disadvantages: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Complex to manage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9929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4. Community Cloud</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smtClean="0">
                <a:latin typeface="Times New Roman" panose="02020603050405020304" pitchFamily="18" charset="0"/>
                <a:cs typeface="Times New Roman" panose="02020603050405020304" pitchFamily="18" charset="0"/>
              </a:rPr>
              <a:t>Shared </a:t>
            </a:r>
            <a:r>
              <a:rPr lang="en-US" dirty="0">
                <a:latin typeface="Times New Roman" panose="02020603050405020304" pitchFamily="18" charset="0"/>
                <a:cs typeface="Times New Roman" panose="02020603050405020304" pitchFamily="18" charset="0"/>
              </a:rPr>
              <a:t>by several organizations with similar needs (e.g., schools, banks). </a:t>
            </a:r>
          </a:p>
          <a:p>
            <a:pPr marL="0" indent="0">
              <a:buNone/>
            </a:pPr>
            <a:r>
              <a:rPr lang="en-US" b="1" dirty="0">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Cost shared </a:t>
            </a:r>
          </a:p>
          <a:p>
            <a:r>
              <a:rPr lang="en-US" dirty="0">
                <a:latin typeface="Times New Roman" panose="02020603050405020304" pitchFamily="18" charset="0"/>
                <a:cs typeface="Times New Roman" panose="02020603050405020304" pitchFamily="18" charset="0"/>
              </a:rPr>
              <a:t>More secure than public cloud </a:t>
            </a:r>
          </a:p>
          <a:p>
            <a:pPr marL="0" indent="0">
              <a:buNone/>
            </a:pPr>
            <a:r>
              <a:rPr lang="en-US" b="1" dirty="0">
                <a:latin typeface="Times New Roman" panose="02020603050405020304" pitchFamily="18" charset="0"/>
                <a:cs typeface="Times New Roman" panose="02020603050405020304" pitchFamily="18" charset="0"/>
              </a:rPr>
              <a:t>Disadvantages: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Less flexible </a:t>
            </a:r>
          </a:p>
          <a:p>
            <a:r>
              <a:rPr lang="en-US" dirty="0">
                <a:latin typeface="Times New Roman" panose="02020603050405020304" pitchFamily="18" charset="0"/>
                <a:cs typeface="Times New Roman" panose="02020603050405020304" pitchFamily="18" charset="0"/>
              </a:rPr>
              <a:t>Shared control</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3980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GitHub</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err="1" smtClean="0">
                <a:latin typeface="Times New Roman" panose="02020603050405020304" pitchFamily="18" charset="0"/>
                <a:cs typeface="Times New Roman" panose="02020603050405020304" pitchFamily="18" charset="0"/>
              </a:rPr>
              <a:t>GitHub</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 an online platform used by programmers and developers to store, share, and manage their code. It uses a system called </a:t>
            </a:r>
            <a:r>
              <a:rPr lang="en-US" dirty="0" err="1">
                <a:latin typeface="Times New Roman" panose="02020603050405020304" pitchFamily="18" charset="0"/>
                <a:cs typeface="Times New Roman" panose="02020603050405020304" pitchFamily="18" charset="0"/>
              </a:rPr>
              <a:t>Git</a:t>
            </a:r>
            <a:r>
              <a:rPr lang="en-US" dirty="0">
                <a:latin typeface="Times New Roman" panose="02020603050405020304" pitchFamily="18" charset="0"/>
                <a:cs typeface="Times New Roman" panose="02020603050405020304" pitchFamily="18" charset="0"/>
              </a:rPr>
              <a:t> to track changes in projects, making it easier for people to work together. </a:t>
            </a:r>
            <a:endParaRPr lang="en-US" dirty="0" smtClean="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GitHub</a:t>
            </a:r>
            <a:r>
              <a:rPr lang="en-US" dirty="0">
                <a:latin typeface="Times New Roman" panose="02020603050405020304" pitchFamily="18" charset="0"/>
                <a:cs typeface="Times New Roman" panose="02020603050405020304" pitchFamily="18" charset="0"/>
              </a:rPr>
              <a:t> is widely used by professionals, students, and companies around the world to build software and collaborate on digital projects.</a:t>
            </a:r>
          </a:p>
        </p:txBody>
      </p:sp>
    </p:spTree>
    <p:extLst>
      <p:ext uri="{BB962C8B-B14F-4D97-AF65-F5344CB8AC3E}">
        <p14:creationId xmlns:p14="http://schemas.microsoft.com/office/powerpoint/2010/main" val="1325109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Advantages of </a:t>
            </a:r>
            <a:r>
              <a:rPr lang="en-US" dirty="0" err="1">
                <a:latin typeface="Times New Roman" panose="02020603050405020304" pitchFamily="18" charset="0"/>
                <a:cs typeface="Times New Roman" panose="02020603050405020304" pitchFamily="18" charset="0"/>
              </a:rPr>
              <a:t>GitHub</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1. It helps track changes in code using version control (</a:t>
            </a:r>
            <a:r>
              <a:rPr lang="en-US" dirty="0" err="1">
                <a:latin typeface="Times New Roman" panose="02020603050405020304" pitchFamily="18" charset="0"/>
                <a:cs typeface="Times New Roman" panose="02020603050405020304" pitchFamily="18" charset="0"/>
              </a:rPr>
              <a:t>Git</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It allows teamwork on the same project from different places. </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It stores files safely online and can be accessed from anywhere. </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4</a:t>
            </a:r>
            <a:r>
              <a:rPr lang="en-US" dirty="0">
                <a:latin typeface="Times New Roman" panose="02020603050405020304" pitchFamily="18" charset="0"/>
                <a:cs typeface="Times New Roman" panose="02020603050405020304" pitchFamily="18" charset="0"/>
              </a:rPr>
              <a:t>. It offers many free, open-source projects to learn from and contribute to. </a:t>
            </a:r>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5</a:t>
            </a:r>
            <a:r>
              <a:rPr lang="en-US" dirty="0">
                <a:latin typeface="Times New Roman" panose="02020603050405020304" pitchFamily="18" charset="0"/>
                <a:cs typeface="Times New Roman" panose="02020603050405020304" pitchFamily="18" charset="0"/>
              </a:rPr>
              <a:t>. It supports tools that help automate testing and </a:t>
            </a:r>
            <a:r>
              <a:rPr lang="en-US" dirty="0" err="1">
                <a:latin typeface="Times New Roman" panose="02020603050405020304" pitchFamily="18" charset="0"/>
                <a:cs typeface="Times New Roman" panose="02020603050405020304" pitchFamily="18" charset="0"/>
              </a:rPr>
              <a:t>im</a:t>
            </a:r>
            <a:r>
              <a:rPr lang="en-US" dirty="0">
                <a:latin typeface="Times New Roman" panose="02020603050405020304" pitchFamily="18" charset="0"/>
                <a:cs typeface="Times New Roman" panose="02020603050405020304" pitchFamily="18" charset="0"/>
              </a:rPr>
              <a:t> prove code quality.</a:t>
            </a:r>
          </a:p>
        </p:txBody>
      </p:sp>
    </p:spTree>
    <p:extLst>
      <p:ext uri="{BB962C8B-B14F-4D97-AF65-F5344CB8AC3E}">
        <p14:creationId xmlns:p14="http://schemas.microsoft.com/office/powerpoint/2010/main" val="3431429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Disadvantages of </a:t>
            </a:r>
            <a:r>
              <a:rPr lang="en-US" dirty="0" err="1">
                <a:latin typeface="Times New Roman" panose="02020603050405020304" pitchFamily="18" charset="0"/>
                <a:cs typeface="Times New Roman" panose="02020603050405020304" pitchFamily="18" charset="0"/>
              </a:rPr>
              <a:t>GitHub</a:t>
            </a:r>
            <a:r>
              <a:rPr lang="en-US"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p:txBody>
          <a:bodyPr/>
          <a:lstStyle/>
          <a:p>
            <a:pPr marL="514350" indent="-514350">
              <a:buAutoNum type="arabicPeriod"/>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can be hard to learn for beginners. </a:t>
            </a:r>
          </a:p>
          <a:p>
            <a:pPr marL="514350" indent="-514350">
              <a:buAutoNum type="arabicPeriod"/>
            </a:pPr>
            <a:r>
              <a:rPr lang="en-US" dirty="0" smtClean="0">
                <a:latin typeface="Times New Roman" panose="02020603050405020304" pitchFamily="18" charset="0"/>
                <a:cs typeface="Times New Roman" panose="02020603050405020304" pitchFamily="18" charset="0"/>
              </a:rPr>
              <a:t>Some </a:t>
            </a:r>
            <a:r>
              <a:rPr lang="en-US" dirty="0">
                <a:latin typeface="Times New Roman" panose="02020603050405020304" pitchFamily="18" charset="0"/>
                <a:cs typeface="Times New Roman" panose="02020603050405020304" pitchFamily="18" charset="0"/>
              </a:rPr>
              <a:t>advanced features may need a paid plan </a:t>
            </a:r>
          </a:p>
          <a:p>
            <a:pPr marL="514350" indent="-514350">
              <a:buAutoNum type="arabicPeriod"/>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requires the internet to access or update projects. </a:t>
            </a:r>
          </a:p>
          <a:p>
            <a:pPr marL="514350" indent="-514350">
              <a:buAutoNum type="arabicPeriod"/>
            </a:pPr>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not careful, users may upload sensitive/private information. </a:t>
            </a:r>
          </a:p>
          <a:p>
            <a:pPr marL="514350" indent="-514350">
              <a:buAutoNum type="arabicPeriod"/>
            </a:pPr>
            <a:r>
              <a:rPr lang="en-US" dirty="0" smtClean="0">
                <a:latin typeface="Times New Roman" panose="02020603050405020304" pitchFamily="18" charset="0"/>
                <a:cs typeface="Times New Roman" panose="02020603050405020304" pitchFamily="18" charset="0"/>
              </a:rPr>
              <a:t>Not </a:t>
            </a:r>
            <a:r>
              <a:rPr lang="en-US" dirty="0">
                <a:latin typeface="Times New Roman" panose="02020603050405020304" pitchFamily="18" charset="0"/>
                <a:cs typeface="Times New Roman" panose="02020603050405020304" pitchFamily="18" charset="0"/>
              </a:rPr>
              <a:t>suitable for storing large files like videos or non code content.</a:t>
            </a:r>
          </a:p>
        </p:txBody>
      </p:sp>
    </p:spTree>
    <p:extLst>
      <p:ext uri="{BB962C8B-B14F-4D97-AF65-F5344CB8AC3E}">
        <p14:creationId xmlns:p14="http://schemas.microsoft.com/office/powerpoint/2010/main" val="8990592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931</Words>
  <Application>Microsoft Office PowerPoint</Application>
  <PresentationFormat>Widescreen</PresentationFormat>
  <Paragraphs>128</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Elephant</vt:lpstr>
      <vt:lpstr>Times New Roman</vt:lpstr>
      <vt:lpstr>Office Theme</vt:lpstr>
      <vt:lpstr>PowerPoint Presentation</vt:lpstr>
      <vt:lpstr>IN THIS CHAPTER YOU WILL:</vt:lpstr>
      <vt:lpstr>Introduction to Cloud Computing</vt:lpstr>
      <vt:lpstr>TIP</vt:lpstr>
      <vt:lpstr>Cloud Service</vt:lpstr>
      <vt:lpstr>Cloud Service Models </vt:lpstr>
      <vt:lpstr>Infrastructure as a Service (IaaS)</vt:lpstr>
      <vt:lpstr>2. Platform as a Service (PaaS) </vt:lpstr>
      <vt:lpstr>3. Software as a Service (SaaS) </vt:lpstr>
      <vt:lpstr>Benefits of Cloud Services </vt:lpstr>
      <vt:lpstr>PowerPoint Presentation</vt:lpstr>
      <vt:lpstr>PowerPoint Presentation</vt:lpstr>
      <vt:lpstr>Limitations of Cloud Services</vt:lpstr>
      <vt:lpstr>PowerPoint Presentation</vt:lpstr>
      <vt:lpstr>Cloud Deployment Models</vt:lpstr>
      <vt:lpstr>2. Private Cloud </vt:lpstr>
      <vt:lpstr>3. Hybrid Cloud </vt:lpstr>
      <vt:lpstr>4. Community Cloud </vt:lpstr>
      <vt:lpstr>GitHub</vt:lpstr>
      <vt:lpstr>Advantages of GitHub</vt:lpstr>
      <vt:lpstr>Disadvantages of GitHub.</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12</cp:revision>
  <dcterms:created xsi:type="dcterms:W3CDTF">2026-04-14T19:45:31Z</dcterms:created>
  <dcterms:modified xsi:type="dcterms:W3CDTF">2026-04-16T15:19:13Z</dcterms:modified>
</cp:coreProperties>
</file>